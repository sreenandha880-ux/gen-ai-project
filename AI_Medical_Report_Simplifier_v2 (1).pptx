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74d1497-664b-2c2e-6690-6e0da754824c}">
          <p14:sldIdLst>
            <p14:sldId id="256"/>
          </p14:sldIdLst>
        </p14:section>
        <p14:section name="Problem" id="{7bd39c13-0487-e475-080b-c3d9ab60b9a8}">
          <p14:sldIdLst>
            <p14:sldId id="257"/>
            <p14:sldId id="258"/>
          </p14:sldIdLst>
        </p14:section>
        <p14:section name="Solution" id="{28d199ef-df9f-e286-c3b7-cdc0650676a0}">
          <p14:sldIdLst>
            <p14:sldId id="259"/>
          </p14:sldIdLst>
        </p14:section>
        <p14:section name="Prototype" id="{93fc67d1-476e-bac0-687d-c77eb2f2383f}">
          <p14:sldIdLst>
            <p14:sldId id="260"/>
            <p14:sldId id="261"/>
            <p14:sldId id="262"/>
          </p14:sldIdLst>
        </p14:section>
        <p14:section name="Results" id="{dfd0bd34-6410-042d-255d-04d41c359c3b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4A5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B4A5A"/>
                </a:solidFill>
                <a:latin typeface="+mn-lt"/>
              </a:rPr>
              <a:t>Reading grade level (lower = easier)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report</c:v>
                </c:pt>
              </c:strCache>
            </c:strRef>
          </c:tx>
          <c:spPr>
            <a:solidFill>
              <a:srgbClr val="E05A3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Cardiac</c:v>
                  </c:pt>
                  <c:pt idx="1">
                    <c:v>Chest scan</c:v>
                  </c:pt>
                  <c:pt idx="2">
                    <c:v>Blood panel</c:v>
                  </c:pt>
                  <c:pt idx="3">
                    <c:v>Average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9.3</c:v>
                </c:pt>
                <c:pt idx="1">
                  <c:v>10.8</c:v>
                </c:pt>
                <c:pt idx="2">
                  <c:v>14.2</c:v>
                </c:pt>
                <c:pt idx="3">
                  <c:v>11.4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Plain-language output</c:v>
                </c:pt>
              </c:strCache>
            </c:strRef>
          </c:tx>
          <c:spPr>
            <a:solidFill>
              <a:srgbClr val="1A9AA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Cardiac</c:v>
                  </c:pt>
                  <c:pt idx="1">
                    <c:v>Chest scan</c:v>
                  </c:pt>
                  <c:pt idx="2">
                    <c:v>Blood panel</c:v>
                  </c:pt>
                  <c:pt idx="3">
                    <c:v>Average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5.1</c:v>
                </c:pt>
                <c:pt idx="1">
                  <c:v>3.3</c:v>
                </c:pt>
                <c:pt idx="2">
                  <c:v>4.4</c:v>
                </c:pt>
                <c:pt idx="3">
                  <c:v>4.3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6350" cap="flat">
              <a:solidFill>
                <a:srgbClr val="E3EC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idea: an AI tool that helps patients understand their medical reports. This version includes screenshots of the working prototype and measured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from the patient's point of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Root causes: communication style, literacy, tool gap,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four-step flow: paste, detect, explain, suggest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build in four steps. The prototype uses a rule-based glossary so it runs offline; the planned upgrade is an LLM API with a safety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empty-state page: header, text box, Load sample and Simplify buttons.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click Load sample then Simplify. Walk through the four panels and the safety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come from running three synthetic reports through the prototype. Average reading level fell from about grade 11 to about grade 4. Be clear that this is a small test and not a clinical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safety: no diagnosis, no replacement for doctors. Be upfront about the limits of the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00200"/>
            <a:ext cx="82296" cy="13716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822960" y="1554480"/>
            <a:ext cx="74980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822960" y="265176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822960" y="15544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Medical Report Simplifier for Patients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822960" y="26517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Turning confusing medical jargon into plain language and better questions for the doctor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457200" y="274320"/>
            <a:ext cx="2103120" cy="21945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1  REAL-WORLD PROBLEM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Patients struggle to understand reports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37160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 accent"/>
          <p:cNvSpPr/>
          <p:nvPr/>
        </p:nvSpPr>
        <p:spPr>
          <a:xfrm>
            <a:off x="457200" y="1371600"/>
            <a:ext cx="64008" cy="20116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Dense jargon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288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Terms like "hypertrophy", "idiopathic" or "bilateral infiltrates" mean little to non-experts.</a:t>
            </a:r>
            <a:endParaRPr lang="en-US" sz="1150" dirty="0"/>
          </a:p>
        </p:txBody>
      </p:sp>
      <p:sp>
        <p:nvSpPr>
          <p:cNvPr id="8" name="Card"/>
          <p:cNvSpPr/>
          <p:nvPr/>
        </p:nvSpPr>
        <p:spPr>
          <a:xfrm>
            <a:off x="3291840" y="137160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3291840" y="1371600"/>
            <a:ext cx="64008" cy="20116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93008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Anxiety &amp; confusion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18288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Reports are often read alone, before any explanation. Patients fear the worst or miss what matters.</a:t>
            </a:r>
            <a:endParaRPr lang="en-US" sz="1150" dirty="0"/>
          </a:p>
        </p:txBody>
      </p:sp>
      <p:sp>
        <p:nvSpPr>
          <p:cNvPr id="12" name="Card"/>
          <p:cNvSpPr/>
          <p:nvPr/>
        </p:nvSpPr>
        <p:spPr>
          <a:xfrm>
            <a:off x="6126480" y="1371600"/>
            <a:ext cx="256032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rd accent"/>
          <p:cNvSpPr/>
          <p:nvPr/>
        </p:nvSpPr>
        <p:spPr>
          <a:xfrm>
            <a:off x="6126480" y="1371600"/>
            <a:ext cx="64008" cy="2011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27648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Short consultations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18288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Doctors have limited time, so patients forget or hesitate to ask questions.</a:t>
            </a:r>
            <a:endParaRPr lang="en-US" sz="1150" dirty="0"/>
          </a:p>
        </p:txBody>
      </p:sp>
      <p:sp>
        <p:nvSpPr>
          <p:cNvPr id="16" name="Callout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Result: poor understanding, weaker follow-through on treatment, and missed communication.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457200" y="274320"/>
            <a:ext cx="2103120" cy="21945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2  ROOT CAUSE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this gap exist?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371600"/>
            <a:ext cx="40233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 accent"/>
          <p:cNvSpPr/>
          <p:nvPr/>
        </p:nvSpPr>
        <p:spPr>
          <a:xfrm>
            <a:off x="457200" y="1371600"/>
            <a:ext cx="64008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81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Written for professionals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8288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Reports are made for clinicians, not for the people they describe.</a:t>
            </a:r>
            <a:endParaRPr lang="en-US" sz="1150" dirty="0"/>
          </a:p>
        </p:txBody>
      </p:sp>
      <p:sp>
        <p:nvSpPr>
          <p:cNvPr id="8" name="Card"/>
          <p:cNvSpPr/>
          <p:nvPr/>
        </p:nvSpPr>
        <p:spPr>
          <a:xfrm>
            <a:off x="4663440" y="1371600"/>
            <a:ext cx="40233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4663440" y="1371600"/>
            <a:ext cx="64008" cy="14173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4608" y="1481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Low health literacy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18288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Many people lack the medical vocabulary to interpret results.</a:t>
            </a:r>
            <a:endParaRPr lang="en-US" sz="1150" dirty="0"/>
          </a:p>
        </p:txBody>
      </p:sp>
      <p:sp>
        <p:nvSpPr>
          <p:cNvPr id="12" name="Card"/>
          <p:cNvSpPr/>
          <p:nvPr/>
        </p:nvSpPr>
        <p:spPr>
          <a:xfrm>
            <a:off x="457200" y="3017520"/>
            <a:ext cx="40233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rd accent"/>
          <p:cNvSpPr/>
          <p:nvPr/>
        </p:nvSpPr>
        <p:spPr>
          <a:xfrm>
            <a:off x="457200" y="3017520"/>
            <a:ext cx="64008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127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No simple tools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34747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Searching terms online gives scattered, sometimes unreliable or alarming answers.</a:t>
            </a:r>
            <a:endParaRPr lang="en-US" sz="1150" dirty="0"/>
          </a:p>
        </p:txBody>
      </p:sp>
      <p:sp>
        <p:nvSpPr>
          <p:cNvPr id="16" name="Card"/>
          <p:cNvSpPr/>
          <p:nvPr/>
        </p:nvSpPr>
        <p:spPr>
          <a:xfrm>
            <a:off x="4663440" y="3017520"/>
            <a:ext cx="402336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rd accent"/>
          <p:cNvSpPr/>
          <p:nvPr/>
        </p:nvSpPr>
        <p:spPr>
          <a:xfrm>
            <a:off x="4663440" y="3017520"/>
            <a:ext cx="64008" cy="14173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64608" y="3127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Time-pressured care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64608" y="34747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There is little room in a visit to explain every term in detail.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457200" y="274320"/>
            <a:ext cx="2103120" cy="21945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3  AI SOLUTION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a report. Get clarity.</a:t>
            </a:r>
            <a:endParaRPr lang="en-US" sz="2400" dirty="0"/>
          </a:p>
        </p:txBody>
      </p:sp>
      <p:sp>
        <p:nvSpPr>
          <p:cNvPr id="4" name="Step circle"/>
          <p:cNvSpPr/>
          <p:nvPr/>
        </p:nvSpPr>
        <p:spPr>
          <a:xfrm>
            <a:off x="118872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Paste report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23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Patient pastes or types the report text</a:t>
            </a:r>
            <a:endParaRPr lang="en-US" sz="1150" dirty="0"/>
          </a:p>
        </p:txBody>
      </p:sp>
      <p:sp>
        <p:nvSpPr>
          <p:cNvPr id="8" name="Connector"/>
          <p:cNvSpPr/>
          <p:nvPr/>
        </p:nvSpPr>
        <p:spPr>
          <a:xfrm>
            <a:off x="1828800" y="1645920"/>
            <a:ext cx="100584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dash"/>
          </a:ln>
        </p:spPr>
      </p:sp>
      <p:sp>
        <p:nvSpPr>
          <p:cNvPr id="9" name="Step circle"/>
          <p:cNvSpPr/>
          <p:nvPr/>
        </p:nvSpPr>
        <p:spPr>
          <a:xfrm>
            <a:off x="3291840" y="137160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18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Detect terms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423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Finds difficult terms and lab values</a:t>
            </a:r>
            <a:endParaRPr lang="en-US" sz="1150" dirty="0"/>
          </a:p>
        </p:txBody>
      </p:sp>
      <p:sp>
        <p:nvSpPr>
          <p:cNvPr id="13" name="Connector"/>
          <p:cNvSpPr/>
          <p:nvPr/>
        </p:nvSpPr>
        <p:spPr>
          <a:xfrm>
            <a:off x="3931920" y="1645920"/>
            <a:ext cx="100584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dash"/>
          </a:ln>
        </p:spPr>
      </p:sp>
      <p:sp>
        <p:nvSpPr>
          <p:cNvPr id="14" name="Step circle"/>
          <p:cNvSpPr/>
          <p:nvPr/>
        </p:nvSpPr>
        <p:spPr>
          <a:xfrm>
            <a:off x="5394960" y="137160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9496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Explain simply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423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Explains each term in everyday language</a:t>
            </a:r>
            <a:endParaRPr lang="en-US" sz="1150" dirty="0"/>
          </a:p>
        </p:txBody>
      </p:sp>
      <p:sp>
        <p:nvSpPr>
          <p:cNvPr id="18" name="Connector"/>
          <p:cNvSpPr/>
          <p:nvPr/>
        </p:nvSpPr>
        <p:spPr>
          <a:xfrm>
            <a:off x="6035040" y="1645920"/>
            <a:ext cx="100584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dash"/>
          </a:ln>
        </p:spPr>
      </p:sp>
      <p:sp>
        <p:nvSpPr>
          <p:cNvPr id="19" name="Step circle"/>
          <p:cNvSpPr/>
          <p:nvPr/>
        </p:nvSpPr>
        <p:spPr>
          <a:xfrm>
            <a:off x="7498080" y="1371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Suggest questions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423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Lists questions to ask the doctor</a:t>
            </a:r>
            <a:endParaRPr lang="en-US" sz="1150" dirty="0"/>
          </a:p>
        </p:txBody>
      </p:sp>
      <p:sp>
        <p:nvSpPr>
          <p:cNvPr id="23" name="Callout"/>
          <p:cNvSpPr txBox="1"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Expected outcome: better understanding of medical information and better patient–doctor communication.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457200" y="274320"/>
            <a:ext cx="2103120" cy="21945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4  HOW WE BUILT IT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built the website</a:t>
            </a:r>
            <a:endParaRPr lang="en-US" sz="2400" dirty="0"/>
          </a:p>
        </p:txBody>
      </p:sp>
      <p:sp>
        <p:nvSpPr>
          <p:cNvPr id="4" name="Build number"/>
          <p:cNvSpPr/>
          <p:nvPr/>
        </p:nvSpPr>
        <p:spPr>
          <a:xfrm>
            <a:off x="457200" y="1325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2801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Plan the flow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361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Four panels: report, terms, lab values, doctor questions.</a:t>
            </a:r>
            <a:endParaRPr lang="en-US" sz="1050" dirty="0"/>
          </a:p>
        </p:txBody>
      </p:sp>
      <p:sp>
        <p:nvSpPr>
          <p:cNvPr id="8" name="Build number"/>
          <p:cNvSpPr/>
          <p:nvPr/>
        </p:nvSpPr>
        <p:spPr>
          <a:xfrm>
            <a:off x="457200" y="20116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9659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Build the glossary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2219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20 medical terms, each with a plain-language meaning and a doctor question.</a:t>
            </a:r>
            <a:endParaRPr lang="en-US" sz="1050" dirty="0"/>
          </a:p>
        </p:txBody>
      </p:sp>
      <p:sp>
        <p:nvSpPr>
          <p:cNvPr id="12" name="Build number"/>
          <p:cNvSpPr/>
          <p:nvPr/>
        </p:nvSpPr>
        <p:spPr>
          <a:xfrm>
            <a:off x="457200" y="26974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651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Add lab-value rules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907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Reads Hemoglobin, LDL, glucose and creatinine; flags Low / High / Normal.</a:t>
            </a:r>
            <a:endParaRPr lang="en-US" sz="1050" dirty="0"/>
          </a:p>
        </p:txBody>
      </p:sp>
      <p:sp>
        <p:nvSpPr>
          <p:cNvPr id="16" name="Build number"/>
          <p:cNvSpPr/>
          <p:nvPr/>
        </p:nvSpPr>
        <p:spPr>
          <a:xfrm>
            <a:off x="457200" y="3383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3375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Design the page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5935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One HTML page (HTML + CSS + JavaScript). Runs in the browser, nothing is stored.</a:t>
            </a:r>
            <a:endParaRPr lang="en-US" sz="1050" dirty="0"/>
          </a:p>
        </p:txBody>
      </p:sp>
      <p:pic>
        <p:nvPicPr>
          <p:cNvPr id="20" name="Screenshot" descr="Screenshot of the prototype webs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371600"/>
            <a:ext cx="4343400" cy="225382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21" name="Text 18"/>
          <p:cNvSpPr txBox="1"/>
          <p:nvPr/>
        </p:nvSpPr>
        <p:spPr>
          <a:xfrm>
            <a:off x="4343400" y="3749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Screenshot: core logic in engine.js — find terms, check lab values, build questions.</a:t>
            </a:r>
            <a:endParaRPr lang="en-US" sz="1000" dirty="0"/>
          </a:p>
        </p:txBody>
      </p:sp>
      <p:sp>
        <p:nvSpPr>
          <p:cNvPr id="22" name="Callout"/>
          <p:cNvSpPr txBox="1"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Next version: swap the fixed glossary for an LLM API call with a "plain language, no diagnosis" prompt.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457200" y="274320"/>
            <a:ext cx="2103120" cy="21945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5  THE WEBSITE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the patient pastes a report</a:t>
            </a:r>
            <a:endParaRPr lang="en-US" sz="2400" dirty="0"/>
          </a:p>
        </p:txBody>
      </p:sp>
      <p:pic>
        <p:nvPicPr>
          <p:cNvPr id="4" name="Screenshot" descr="Screenshot of the prototype webs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120640" cy="329803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5" name="Card"/>
          <p:cNvSpPr/>
          <p:nvPr/>
        </p:nvSpPr>
        <p:spPr>
          <a:xfrm>
            <a:off x="5852160" y="1280160"/>
            <a:ext cx="283464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rd accent"/>
          <p:cNvSpPr/>
          <p:nvPr/>
        </p:nvSpPr>
        <p:spPr>
          <a:xfrm>
            <a:off x="5852160" y="1280160"/>
            <a:ext cx="64008" cy="10515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53328" y="13898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Input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053328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Text box + "Load sample" button for a quick demo.</a:t>
            </a:r>
            <a:endParaRPr lang="en-US" sz="1050" dirty="0"/>
          </a:p>
        </p:txBody>
      </p:sp>
      <p:sp>
        <p:nvSpPr>
          <p:cNvPr id="9" name="Card"/>
          <p:cNvSpPr/>
          <p:nvPr/>
        </p:nvSpPr>
        <p:spPr>
          <a:xfrm>
            <a:off x="5852160" y="2468880"/>
            <a:ext cx="283464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 accent"/>
          <p:cNvSpPr/>
          <p:nvPr/>
        </p:nvSpPr>
        <p:spPr>
          <a:xfrm>
            <a:off x="5852160" y="2468880"/>
            <a:ext cx="64008" cy="10515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53328" y="25786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One click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053328" y="2926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"Simplify report" runs the analysis instantly.</a:t>
            </a:r>
            <a:endParaRPr lang="en-US" sz="1050" dirty="0"/>
          </a:p>
        </p:txBody>
      </p:sp>
      <p:sp>
        <p:nvSpPr>
          <p:cNvPr id="13" name="Card"/>
          <p:cNvSpPr/>
          <p:nvPr/>
        </p:nvSpPr>
        <p:spPr>
          <a:xfrm>
            <a:off x="5852160" y="3657600"/>
            <a:ext cx="283464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ard accent"/>
          <p:cNvSpPr/>
          <p:nvPr/>
        </p:nvSpPr>
        <p:spPr>
          <a:xfrm>
            <a:off x="5852160" y="3657600"/>
            <a:ext cx="64008" cy="8686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53328" y="37673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Privacy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053328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Runs in the browser. Nothing is uploaded or stored.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457200" y="274320"/>
            <a:ext cx="2103120" cy="21945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5  THE WEBSITE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plain-language results</a:t>
            </a:r>
            <a:endParaRPr lang="en-US" sz="2400" dirty="0"/>
          </a:p>
        </p:txBody>
      </p:sp>
      <p:pic>
        <p:nvPicPr>
          <p:cNvPr id="4" name="Screenshot" descr="Screenshot of the prototype webs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120640" cy="329803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5" name="Card"/>
          <p:cNvSpPr/>
          <p:nvPr/>
        </p:nvSpPr>
        <p:spPr>
          <a:xfrm>
            <a:off x="5852160" y="1280160"/>
            <a:ext cx="283464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rd accent"/>
          <p:cNvSpPr/>
          <p:nvPr/>
        </p:nvSpPr>
        <p:spPr>
          <a:xfrm>
            <a:off x="5852160" y="1280160"/>
            <a:ext cx="64008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53328" y="13898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Terms explained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053328" y="1737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Each difficult term gets a one-line everyday meaning.</a:t>
            </a:r>
            <a:endParaRPr lang="en-US" sz="1050" dirty="0"/>
          </a:p>
        </p:txBody>
      </p:sp>
      <p:sp>
        <p:nvSpPr>
          <p:cNvPr id="9" name="Card"/>
          <p:cNvSpPr/>
          <p:nvPr/>
        </p:nvSpPr>
        <p:spPr>
          <a:xfrm>
            <a:off x="5852160" y="2286000"/>
            <a:ext cx="283464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 accent"/>
          <p:cNvSpPr/>
          <p:nvPr/>
        </p:nvSpPr>
        <p:spPr>
          <a:xfrm>
            <a:off x="5852160" y="2286000"/>
            <a:ext cx="64008" cy="8686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53328" y="23957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Lab values flagged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053328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Hemoglobin 9.8 = Low, LDL 162 = High, glucose 92 = Normal.</a:t>
            </a:r>
            <a:endParaRPr lang="en-US" sz="1050" dirty="0"/>
          </a:p>
        </p:txBody>
      </p:sp>
      <p:sp>
        <p:nvSpPr>
          <p:cNvPr id="13" name="Card"/>
          <p:cNvSpPr/>
          <p:nvPr/>
        </p:nvSpPr>
        <p:spPr>
          <a:xfrm>
            <a:off x="5852160" y="3291840"/>
            <a:ext cx="2834640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ard accent"/>
          <p:cNvSpPr/>
          <p:nvPr/>
        </p:nvSpPr>
        <p:spPr>
          <a:xfrm>
            <a:off x="5852160" y="3291840"/>
            <a:ext cx="64008" cy="8686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53328" y="3401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Ask your doctor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053328" y="3749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Five questions generated from the report.</a:t>
            </a:r>
            <a:endParaRPr lang="en-US" sz="1050" dirty="0"/>
          </a:p>
        </p:txBody>
      </p:sp>
      <p:sp>
        <p:nvSpPr>
          <p:cNvPr id="17" name="Callout"/>
          <p:cNvSpPr txBox="1"/>
          <p:nvPr/>
        </p:nvSpPr>
        <p:spPr>
          <a:xfrm>
            <a:off x="5852160" y="4279392"/>
            <a:ext cx="2834640" cy="45720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Safety banner stays visible: explains, never diagnoses.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457200" y="274320"/>
            <a:ext cx="2103120" cy="21945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6  RESULTS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reports became much easier to read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"/>
          <p:cNvSpPr/>
          <p:nvPr/>
        </p:nvSpPr>
        <p:spPr>
          <a:xfrm>
            <a:off x="5669280" y="1280160"/>
            <a:ext cx="141732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tat accent"/>
          <p:cNvSpPr/>
          <p:nvPr/>
        </p:nvSpPr>
        <p:spPr>
          <a:xfrm>
            <a:off x="5669280" y="1280160"/>
            <a:ext cx="141732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15000" y="14630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11.4 → 4.3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20116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Average reading grade</a:t>
            </a:r>
            <a:endParaRPr lang="en-US" sz="1050" dirty="0"/>
          </a:p>
        </p:txBody>
      </p:sp>
      <p:sp>
        <p:nvSpPr>
          <p:cNvPr id="9" name="Stat card"/>
          <p:cNvSpPr/>
          <p:nvPr/>
        </p:nvSpPr>
        <p:spPr>
          <a:xfrm>
            <a:off x="7269480" y="1280160"/>
            <a:ext cx="141732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accent"/>
          <p:cNvSpPr/>
          <p:nvPr/>
        </p:nvSpPr>
        <p:spPr>
          <a:xfrm>
            <a:off x="7269480" y="1280160"/>
            <a:ext cx="1417320" cy="6400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0" y="14630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360920" y="20116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Medical terms explained</a:t>
            </a:r>
            <a:endParaRPr lang="en-US" sz="1050" dirty="0"/>
          </a:p>
        </p:txBody>
      </p:sp>
      <p:sp>
        <p:nvSpPr>
          <p:cNvPr id="13" name="Stat card"/>
          <p:cNvSpPr/>
          <p:nvPr/>
        </p:nvSpPr>
        <p:spPr>
          <a:xfrm>
            <a:off x="5669280" y="2743200"/>
            <a:ext cx="141732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at accent"/>
          <p:cNvSpPr/>
          <p:nvPr/>
        </p:nvSpPr>
        <p:spPr>
          <a:xfrm>
            <a:off x="5669280" y="2743200"/>
            <a:ext cx="1417320" cy="6400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715000" y="29260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34747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Abnormal lab values flagged</a:t>
            </a:r>
            <a:endParaRPr lang="en-US" sz="1050" dirty="0"/>
          </a:p>
        </p:txBody>
      </p:sp>
      <p:sp>
        <p:nvSpPr>
          <p:cNvPr id="17" name="Stat card"/>
          <p:cNvSpPr/>
          <p:nvPr/>
        </p:nvSpPr>
        <p:spPr>
          <a:xfrm>
            <a:off x="7269480" y="2743200"/>
            <a:ext cx="1417320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tat accent"/>
          <p:cNvSpPr/>
          <p:nvPr/>
        </p:nvSpPr>
        <p:spPr>
          <a:xfrm>
            <a:off x="7269480" y="2743200"/>
            <a:ext cx="1417320" cy="6400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0" y="29260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7360920" y="34747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Doctor questions generated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Tested on 3 synthetic sample reports (cardiac, chest scan, blood panel). Readability = Flesch-Kincaid grade of the original text vs the explanations. Not clinically validated.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chip"/>
          <p:cNvSpPr txBox="1"/>
          <p:nvPr/>
        </p:nvSpPr>
        <p:spPr>
          <a:xfrm>
            <a:off x="457200" y="274320"/>
            <a:ext cx="2103120" cy="219456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7  LIMITS &amp; NEXT STEPS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next: accuracy and safety</a:t>
            </a:r>
            <a:endParaRPr lang="en-US" sz="2400" dirty="0"/>
          </a:p>
        </p:txBody>
      </p:sp>
      <p:sp>
        <p:nvSpPr>
          <p:cNvPr id="4" name="Card"/>
          <p:cNvSpPr/>
          <p:nvPr/>
        </p:nvSpPr>
        <p:spPr>
          <a:xfrm>
            <a:off x="457200" y="1325880"/>
            <a:ext cx="4023360" cy="2240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 accent"/>
          <p:cNvSpPr/>
          <p:nvPr/>
        </p:nvSpPr>
        <p:spPr>
          <a:xfrm>
            <a:off x="457200" y="1325880"/>
            <a:ext cx="64008" cy="2240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435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78308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Have a doctor or medical student review every explanation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Replace the fixed glossary with an LLM API and a "plain language, no diagnosis" prompt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Run a user study: do patients understand more than before?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Support PDF upload and more languages</a:t>
            </a:r>
            <a:endParaRPr lang="en-US" sz="1150" dirty="0"/>
          </a:p>
        </p:txBody>
      </p:sp>
      <p:sp>
        <p:nvSpPr>
          <p:cNvPr id="8" name="Card"/>
          <p:cNvSpPr/>
          <p:nvPr/>
        </p:nvSpPr>
        <p:spPr>
          <a:xfrm>
            <a:off x="4663440" y="1325880"/>
            <a:ext cx="4023360" cy="2240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4663440" y="1325880"/>
            <a:ext cx="64008" cy="2240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4608" y="1435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Current limits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178308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Only 20 terms and 4 lab tests are covered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Reference ranges are general, not personalised by age or sex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Tested on synthetic reports only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Text input only, no scanned images</a:t>
            </a:r>
            <a:endParaRPr lang="en-US" sz="1150" dirty="0"/>
          </a:p>
        </p:txBody>
      </p:sp>
      <p:sp>
        <p:nvSpPr>
          <p:cNvPr id="12" name="Safety note"/>
          <p:cNvSpPr txBox="1"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Safety: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tool explains, it does not diagnose. Always confirm with a healthcare professional and protect patient privacy.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822960" y="15544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understanding.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conversations.</a:t>
            </a:r>
            <a:endParaRPr lang="en-US" sz="34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822960" y="26517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Thank you.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Simplify">
  <a:themeElements>
    <a:clrScheme name="MedSimplify">
      <a:dk1>
        <a:srgbClr val="1D2B30"/>
      </a:dk1>
      <a:lt1>
        <a:srgbClr val="FFFFFF"/>
      </a:lt1>
      <a:dk2>
        <a:srgbClr val="0B4A5A"/>
      </a:dk2>
      <a:lt2>
        <a:srgbClr val="F2F7F7"/>
      </a:lt2>
      <a:accent1>
        <a:srgbClr val="1A9AA8"/>
      </a:accent1>
      <a:accent2>
        <a:srgbClr val="F5A623"/>
      </a:accent2>
      <a:accent3>
        <a:srgbClr val="E05A33"/>
      </a:accent3>
      <a:accent4>
        <a:srgbClr val="3E7CB1"/>
      </a:accent4>
      <a:accent5>
        <a:srgbClr val="4FA36B"/>
      </a:accent5>
      <a:accent6>
        <a:srgbClr val="7A8C90"/>
      </a:accent6>
      <a:hlink>
        <a:srgbClr val="1A9AA8"/>
      </a:hlink>
      <a:folHlink>
        <a:srgbClr val="7A8C90"/>
      </a:folHlink>
    </a:clrScheme>
    <a:fontScheme name="MedSimplify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Medical Report Simplifier for Patients</dc:title>
  <dc:subject>PptxGenJS Presentation</dc:subject>
  <dc:creator>PptxGenJS</dc:creator>
  <cp:lastModifiedBy>PptxGenJS</cp:lastModifiedBy>
  <cp:revision>1</cp:revision>
  <dcterms:created xsi:type="dcterms:W3CDTF">2026-10-09T08:37:07Z</dcterms:created>
  <dcterms:modified xsi:type="dcterms:W3CDTF">2026-10-09T08:37:07Z</dcterms:modified>
</cp:coreProperties>
</file>